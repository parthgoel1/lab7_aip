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(~15 seconds): The earlier labs gave us RAG components. The Lab 7 challenge was to make them usable and observable in a real service, and to defend the service with measurements. We will show what worked and what still failed.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Labs 1–2 established prompting, models and statistics; Labs 3–6 supply the pipeline we actually reused. Lab 3 retrieval, Lab 4 citations and judging, Lab 5 diagnosis, Lab 6 guarded tools. No lengthy recap—most of the work today is in serving and operations.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graded system weights: service and performance 30%, caching 15%, streaming/B3 15%, observability 20%, regression gate 20%. The report is independently graded (16% of the module). We achieved functional completeness but missed repeatable uncached p95 and some TTFTs.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Start from the user at left. POST /ask first checks the exact SQLite response cache, then a semantic in-memory cache. On a miss, Lab 3/4 RAG is run, or the Lab 6 agent is used for tools mode. Every answer carries citations, a trace ID, cost and latency. Streaming is a separate endpoint with small-model generation and post-stream validation.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Demonstrate an easy question, then expand the source excerpts in Streamlit. For tools mode we tested a synthetic policy ID; privileged refund action was blocked by the guard. FastAPI validation gives 422 for malformed input, budget exhaustion 429, transient upstream failure 503 with Retry-After. The real value is explainable, inspectable answers with operational metadata.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ran one warm-up followed by 30 repeated queries. All 30 hits; no errors. Server reported p95 1.12 ms, client observed p95 7.95 ms, no additional model cost. This is well below the 800 ms cached SLO. It is a single-key localhost workload, not an estimate of the cache hit rate under real traffic.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engineering story. Initial test: Silver ₹500,000 produces ₹10,000/day; paraphrase hit semantic cache; changing plan to Gold also hit and returned the Silver answer! We added a signature comparing plan names and numerical values, plus the 0.92 cosine threshold. The retest: paraphrased Silver hit at 593 ms and new Gold generated a correct response in 3,597 ms. Matching tokens is a mitigation, not a full semantic safety proof. In-memory semantic cache resets on service restart; exact SQLite persists.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used server-sent events. Tokens arrive before final citation validation, and the client receives explicit validation and done events. For Gold room rent, TTFT 2329.8 ms with retrieval 1136.6 and model 1193.2; missed 1500. A Diamond plan not documented in the corpus correctly refused, validated, and hit TTFT 1495.7 ms. We need to tell the user streamed text is provisional until validation arrives.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Tracing exposed each stage. In the second low reasoning run, 10 LLM call spans had p95 6428 ms; retrieval p95 1.5 ms, validation 0.1 ms, embedding spans p95 950.6 ms (21 spans, not 10 requests). Stage p95s cannot be added; they have different denominators. GET /metrics recorded 99 requests, 36 cache hits and zero http span errors, but 1424 model calls in aggregated daily traces, including non-service evaluations. The dashboard cost/query number 0.010436 is therefore not serving-only. Fix by filtering descendant spans under http.ask.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explicitly tried default medium reasoning, a smaller model, and a reduced 512-token cap. Small was not reliably faster; the cap caused truncation and repairs. We settled on MAIN with low reasoning and 1024 tokens, which produced 6.10 and 7.38 sec p95 across two n=10 samples, versus ~9.86 sec baseline in a separate sample. This is directional only; different question sets mean it is not a causal A/B result. The golden-set correctness moved from 0.8625 to 0.8375, still above gate 0.75.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real offline gate terminal. Correctness 0.8375, faithfulness 0.9333, citation validity 1, refusal recall 1 (5/5), refusal precision 0.7143 (5/7), hit@5 1. Gate also enforces cost &lt;=.01 and p95 &lt;=6000. Deliberately tightening a threshold made the exit nonzero/red; restoring it yielded green GitHub Actions. Very small gate p95 ~1.15 ms and $0 reflects cached judge/model replay, not end-to-end provider latency.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grading requirement is to show the worst remaining failure, not conceal it. Live uncached p95 across two samples is 6.10 sec and 7.38 sec, exceeding the six-second target. Archived 2024 claims document was retrieved for 3/45 golden questions, though answers generally called it archived. We had 2/40 false refusals in the final evaluation. Serving cost averaged $0.001015 per uncached query in one 10-request sample, extrapolating to $3,705/year at 10,000 queries/day excluding hosting, judge costs, cache effects and price changes. We are not a claims adjudication system.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Ranked next steps from the evaluation report. First: measure more representative uncached latency and optimize the LLM provider path. Second: policy version-aware retrieval to eliminate accidental archived references. Third: targeted regressions for Q23/Q44, safer cache semantics, and service-only cost aggregation. These are actionable with clear success criteria.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Live-demo order from lab brief, roughly five minutes. Do not force an artificial new service call if the API is unreliable—have previous outputs/screenshots as fallback. Remember the HTTP metrics cost mixes unrelated evaluation calls; explicitly disclose that. The strongest negative case is live p95 and the cross-plan semantic cache collision. The red gate was deliberately produced by tightening a threshold; do not leave CI in 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reference slide, not for the five-minute demo unless asked. aio toolkit is course-provided and intentionally not modified. Offline GitHub Actions requires the committed cached calls database; do not commit secrets in .env.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a command cheat sheet. The streamed refusal example used POST /ask/stream with Diamond coverage question. The red gate demonstration was previously produced by intentionally tightening a YAML gate, then restoring it; do not leave those tightened thresholds in the submission.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8C5"/>
          </a:solidFill>
          <a:ln w="12700">
            <a:solidFill>
              <a:srgbClr val="00B8C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814816" y="0"/>
            <a:ext cx="3374136" cy="6858000"/>
          </a:xfrm>
          <a:prstGeom prst="rect">
            <a:avLst/>
          </a:prstGeom>
          <a:solidFill>
            <a:srgbClr val="10243B"/>
          </a:solidFill>
          <a:ln w="12700">
            <a:solidFill>
              <a:srgbClr val="10243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778240" y="0"/>
            <a:ext cx="0" cy="6858000"/>
          </a:xfrm>
          <a:prstGeom prst="line">
            <a:avLst/>
          </a:prstGeom>
          <a:noFill/>
          <a:ln w="16510">
            <a:solidFill>
              <a:srgbClr val="1E4E62"/>
            </a:solidFill>
            <a:prstDash val="solid"/>
            <a:headEnd type="none"/>
            <a:tailEnd type="none"/>
          </a:ln>
        </p:spPr>
      </p:sp>
      <p:sp>
        <p:nvSpPr>
          <p:cNvPr id="5" name="Shape 3"/>
          <p:cNvSpPr/>
          <p:nvPr/>
        </p:nvSpPr>
        <p:spPr>
          <a:xfrm>
            <a:off x="8823960" y="914400"/>
            <a:ext cx="3264408" cy="-228600"/>
          </a:xfrm>
          <a:prstGeom prst="line">
            <a:avLst/>
          </a:prstGeom>
          <a:noFill/>
          <a:ln w="12700">
            <a:solidFill>
              <a:srgbClr val="1B3951"/>
            </a:solidFill>
            <a:prstDash val="solid"/>
            <a:headEnd type="none"/>
            <a:tailEnd type="none"/>
          </a:ln>
        </p:spPr>
      </p:sp>
      <p:sp>
        <p:nvSpPr>
          <p:cNvPr id="6" name="Shape 4"/>
          <p:cNvSpPr/>
          <p:nvPr/>
        </p:nvSpPr>
        <p:spPr>
          <a:xfrm>
            <a:off x="8823960" y="1673352"/>
            <a:ext cx="3264408" cy="-228600"/>
          </a:xfrm>
          <a:prstGeom prst="line">
            <a:avLst/>
          </a:prstGeom>
          <a:noFill/>
          <a:ln w="12700">
            <a:solidFill>
              <a:srgbClr val="1B3951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823960" y="2432304"/>
            <a:ext cx="3264408" cy="-228600"/>
          </a:xfrm>
          <a:prstGeom prst="line">
            <a:avLst/>
          </a:prstGeom>
          <a:noFill/>
          <a:ln w="12700">
            <a:solidFill>
              <a:srgbClr val="1B3951"/>
            </a:solidFill>
            <a:prstDash val="solid"/>
            <a:headEnd type="none"/>
            <a:tailEnd type="none"/>
          </a:ln>
        </p:spPr>
      </p:sp>
      <p:sp>
        <p:nvSpPr>
          <p:cNvPr id="8" name="Shape 6"/>
          <p:cNvSpPr/>
          <p:nvPr/>
        </p:nvSpPr>
        <p:spPr>
          <a:xfrm>
            <a:off x="8823960" y="3191256"/>
            <a:ext cx="3264408" cy="-228600"/>
          </a:xfrm>
          <a:prstGeom prst="line">
            <a:avLst/>
          </a:prstGeom>
          <a:noFill/>
          <a:ln w="12700">
            <a:solidFill>
              <a:srgbClr val="1B3951"/>
            </a:solidFill>
            <a:prstDash val="solid"/>
            <a:headEnd type="none"/>
            <a:tailEnd type="none"/>
          </a:ln>
        </p:spPr>
      </p:sp>
      <p:sp>
        <p:nvSpPr>
          <p:cNvPr id="9" name="Shape 7"/>
          <p:cNvSpPr/>
          <p:nvPr/>
        </p:nvSpPr>
        <p:spPr>
          <a:xfrm>
            <a:off x="8823960" y="3950208"/>
            <a:ext cx="3264408" cy="-228600"/>
          </a:xfrm>
          <a:prstGeom prst="line">
            <a:avLst/>
          </a:prstGeom>
          <a:noFill/>
          <a:ln w="12700">
            <a:solidFill>
              <a:srgbClr val="1B3951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8823960" y="4709160"/>
            <a:ext cx="3264408" cy="-228600"/>
          </a:xfrm>
          <a:prstGeom prst="line">
            <a:avLst/>
          </a:prstGeom>
          <a:noFill/>
          <a:ln w="12700">
            <a:solidFill>
              <a:srgbClr val="1B3951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13232" y="694944"/>
            <a:ext cx="2148840" cy="283464"/>
          </a:xfrm>
          <a:prstGeom prst="roundRect">
            <a:avLst>
              <a:gd name="adj" fmla="val 51613"/>
            </a:avLst>
          </a:prstGeom>
          <a:solidFill>
            <a:srgbClr val="174054"/>
          </a:solidFill>
          <a:ln w="12700">
            <a:solidFill>
              <a:srgbClr val="174054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86384" y="704088"/>
            <a:ext cx="20025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FE9E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7  /  SHIP IT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22376" y="1353312"/>
            <a:ext cx="78181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a RAG notebook</a:t>
            </a:r>
            <a:endParaRPr lang="en-US" sz="3700" dirty="0"/>
          </a:p>
          <a:p>
            <a:pPr indent="0" marL="0">
              <a:buNone/>
            </a:pPr>
            <a:r>
              <a:rPr lang="en-US" sz="37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 a working AI service</a:t>
            </a:r>
            <a:endParaRPr lang="en-US" sz="3700" dirty="0"/>
          </a:p>
        </p:txBody>
      </p:sp>
      <p:sp>
        <p:nvSpPr>
          <p:cNvPr id="14" name="Text 12"/>
          <p:cNvSpPr/>
          <p:nvPr/>
        </p:nvSpPr>
        <p:spPr>
          <a:xfrm>
            <a:off x="740664" y="3209544"/>
            <a:ext cx="7242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7DB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Insurance Policy Assistant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740664" y="3803904"/>
            <a:ext cx="7635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94B8C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 ·  caching  ·  streaming  ·  tracing  ·  CI regression gate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134856" y="1280160"/>
            <a:ext cx="2441448" cy="1088136"/>
          </a:xfrm>
          <a:prstGeom prst="roundRect">
            <a:avLst>
              <a:gd name="adj" fmla="val 10924"/>
            </a:avLst>
          </a:prstGeom>
          <a:solidFill>
            <a:srgbClr val="15344A"/>
          </a:solidFill>
          <a:ln w="12700">
            <a:solidFill>
              <a:srgbClr val="25617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299448" y="1435608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DE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7.95 ms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9272016" y="1938528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4D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cached p95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34856" y="2615184"/>
            <a:ext cx="2441448" cy="1088136"/>
          </a:xfrm>
          <a:prstGeom prst="roundRect">
            <a:avLst>
              <a:gd name="adj" fmla="val 10924"/>
            </a:avLst>
          </a:prstGeom>
          <a:solidFill>
            <a:srgbClr val="15344A"/>
          </a:solidFill>
          <a:ln w="12700">
            <a:solidFill>
              <a:srgbClr val="25617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99448" y="2770632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DE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272016" y="3273552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4D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validity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34856" y="3950208"/>
            <a:ext cx="2441448" cy="1088136"/>
          </a:xfrm>
          <a:prstGeom prst="roundRect">
            <a:avLst>
              <a:gd name="adj" fmla="val 10924"/>
            </a:avLst>
          </a:prstGeom>
          <a:solidFill>
            <a:srgbClr val="15344A"/>
          </a:solidFill>
          <a:ln w="12700">
            <a:solidFill>
              <a:srgbClr val="25617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99448" y="4105656"/>
            <a:ext cx="20939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DE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8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9272016" y="4608576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C4DC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gates passed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5971032"/>
            <a:ext cx="7287768" cy="0"/>
          </a:xfrm>
          <a:prstGeom prst="line">
            <a:avLst/>
          </a:prstGeom>
          <a:noFill/>
          <a:ln w="12700">
            <a:solidFill>
              <a:srgbClr val="396174"/>
            </a:solidFill>
            <a:prstDash val="solid"/>
            <a:headEnd type="none"/>
            <a:tailEnd type="none"/>
          </a:ln>
        </p:spPr>
      </p:sp>
      <p:sp>
        <p:nvSpPr>
          <p:cNvPr id="26" name="Text 24"/>
          <p:cNvSpPr/>
          <p:nvPr/>
        </p:nvSpPr>
        <p:spPr>
          <a:xfrm>
            <a:off x="740664" y="6099048"/>
            <a:ext cx="6583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A4C3D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recap + rubric-aligned demo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CONNECTION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ONE-SLIDE RECAP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 7 integrated—not restarted—the earlier work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Only the connections needed to understand the serving system.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30352" y="2176272"/>
            <a:ext cx="2679192" cy="1993392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2377440"/>
            <a:ext cx="914400" cy="283464"/>
          </a:xfrm>
          <a:prstGeom prst="roundRect">
            <a:avLst>
              <a:gd name="adj" fmla="val 51613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386584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85800" y="2807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85800" y="3264408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Markdown chunks, dense/BM25 and hybrid retrieval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27832" y="285292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17" name="Shape 15"/>
          <p:cNvSpPr/>
          <p:nvPr/>
        </p:nvSpPr>
        <p:spPr>
          <a:xfrm>
            <a:off x="3419856" y="2176272"/>
            <a:ext cx="2679192" cy="1993392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84448" y="2377440"/>
            <a:ext cx="914400" cy="283464"/>
          </a:xfrm>
          <a:prstGeom prst="roundRect">
            <a:avLst>
              <a:gd name="adj" fmla="val 51613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0" y="2386584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575304" y="2807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Grounding &amp; evaluation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575304" y="3264408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Citations, refusal behavior, golden-set judging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117336" y="285292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6309360" y="2176272"/>
            <a:ext cx="2679192" cy="1993392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73952" y="2377440"/>
            <a:ext cx="914400" cy="283464"/>
          </a:xfrm>
          <a:prstGeom prst="roundRect">
            <a:avLst>
              <a:gd name="adj" fmla="val 51613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547104" y="2386584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05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64808" y="2807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Failure diagnosis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64808" y="3264408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Ranking vs generation errors; inspect retrieved context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006840" y="285292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29" name="Shape 27"/>
          <p:cNvSpPr/>
          <p:nvPr/>
        </p:nvSpPr>
        <p:spPr>
          <a:xfrm>
            <a:off x="9198864" y="2176272"/>
            <a:ext cx="2679192" cy="1993392"/>
          </a:xfrm>
          <a:prstGeom prst="roundRect">
            <a:avLst>
              <a:gd name="adj" fmla="val 5963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363456" y="2377440"/>
            <a:ext cx="914400" cy="283464"/>
          </a:xfrm>
          <a:prstGeom prst="roundRect">
            <a:avLst>
              <a:gd name="adj" fmla="val 51613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36608" y="2386584"/>
            <a:ext cx="76809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06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354312" y="2807208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Tool safety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354312" y="3264408"/>
            <a:ext cx="23134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Allowlisted tools, argument validation, guardrails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051560" y="4636008"/>
            <a:ext cx="10058400" cy="1005840"/>
          </a:xfrm>
          <a:prstGeom prst="roundRect">
            <a:avLst>
              <a:gd name="adj" fmla="val 11818"/>
            </a:avLst>
          </a:prstGeom>
          <a:solidFill>
            <a:srgbClr val="10243B"/>
          </a:solidFill>
          <a:ln w="12700">
            <a:solidFill>
              <a:srgbClr val="10243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399032" y="4846320"/>
            <a:ext cx="13350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8BE3D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07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2770632" y="4800600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 +  caching  +  streaming  +  observability  +  regression CI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1069848" y="5952744"/>
            <a:ext cx="993952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Earlier labs contributed the logic; Lab 7 provided the operating system around it.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ASSIGNMENT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 BRIEF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“Ship it”: five criteria, measurable targets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original handout explicitly requires both a live demonstration and an honest evaluation report.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" y="2103120"/>
            <a:ext cx="2688336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31720"/>
            <a:ext cx="3749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197864" y="2194560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+ budgets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97864" y="279806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65576" y="2103120"/>
            <a:ext cx="2688336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30168" y="2331720"/>
            <a:ext cx="3749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4078224" y="2194560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Two caches + streaming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078224" y="279806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30%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345936" y="2103120"/>
            <a:ext cx="2688336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10528" y="2331720"/>
            <a:ext cx="3749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2300" dirty="0"/>
          </a:p>
        </p:txBody>
      </p:sp>
      <p:sp>
        <p:nvSpPr>
          <p:cNvPr id="21" name="Text 19"/>
          <p:cNvSpPr/>
          <p:nvPr/>
        </p:nvSpPr>
        <p:spPr>
          <a:xfrm>
            <a:off x="6958584" y="2194560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 + alert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58584" y="279806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226296" y="2103120"/>
            <a:ext cx="2688336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90888" y="2331720"/>
            <a:ext cx="374904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2300" dirty="0"/>
          </a:p>
        </p:txBody>
      </p:sp>
      <p:sp>
        <p:nvSpPr>
          <p:cNvPr id="25" name="Text 23"/>
          <p:cNvSpPr/>
          <p:nvPr/>
        </p:nvSpPr>
        <p:spPr>
          <a:xfrm>
            <a:off x="9838944" y="2194560"/>
            <a:ext cx="18105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gate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838944" y="2798064"/>
            <a:ext cx="17190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3504" y="3657600"/>
            <a:ext cx="5120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spc="13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 CONTRACT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03504" y="4087368"/>
            <a:ext cx="5303520" cy="548640"/>
          </a:xfrm>
          <a:prstGeom prst="roundRect">
            <a:avLst>
              <a:gd name="adj" fmla="val 21667"/>
            </a:avLst>
          </a:prstGeom>
          <a:solidFill>
            <a:srgbClr val="E6F8F7"/>
          </a:solidFill>
          <a:ln w="12700">
            <a:solidFill>
              <a:srgbClr val="E6F8F7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8952" y="417880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cached p95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178808" y="416966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 800 ms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199632" y="4087368"/>
            <a:ext cx="5303520" cy="548640"/>
          </a:xfrm>
          <a:prstGeom prst="roundRect">
            <a:avLst>
              <a:gd name="adj" fmla="val 21667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178808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Uncached p95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9774936" y="4169664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 6,000 ms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603504" y="4791456"/>
            <a:ext cx="5303520" cy="548640"/>
          </a:xfrm>
          <a:prstGeom prst="roundRect">
            <a:avLst>
              <a:gd name="adj" fmla="val 21667"/>
            </a:avLst>
          </a:prstGeom>
          <a:solidFill>
            <a:srgbClr val="E6F8F7"/>
          </a:solidFill>
          <a:ln w="12700">
            <a:solidFill>
              <a:srgbClr val="E6F8F7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" y="4882896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 TTFT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178808" y="4873752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 1,500 ms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99632" y="4791456"/>
            <a:ext cx="5303520" cy="548640"/>
          </a:xfrm>
          <a:prstGeom prst="roundRect">
            <a:avLst>
              <a:gd name="adj" fmla="val 21667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355080" y="4882896"/>
            <a:ext cx="3310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Cost per query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9774936" y="4873752"/>
            <a:ext cx="15453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≤ $0.01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12648" y="5806440"/>
            <a:ext cx="105887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Results should be reported against each target—even when a target is missed.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service, two execution paths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service wraps grounded RAG and guarded tool execution.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85216" y="2139696"/>
            <a:ext cx="1883664" cy="950976"/>
          </a:xfrm>
          <a:prstGeom prst="roundRect">
            <a:avLst>
              <a:gd name="adj" fmla="val 12500"/>
            </a:avLst>
          </a:prstGeom>
          <a:solidFill>
            <a:srgbClr val="10243B"/>
          </a:solidFill>
          <a:ln w="12700">
            <a:solidFill>
              <a:srgbClr val="1024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22376" y="2267712"/>
            <a:ext cx="1572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/ UI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94944" y="2670048"/>
            <a:ext cx="1627632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6D8E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Streamlit or API client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606040" y="235000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2980944" y="2130552"/>
            <a:ext cx="2048256" cy="95097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118104" y="2258568"/>
            <a:ext cx="18013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/ask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118104" y="2615184"/>
            <a:ext cx="1801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 · trace · budget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157216" y="235000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5532120" y="2029968"/>
            <a:ext cx="2514600" cy="1143000"/>
          </a:xfrm>
          <a:prstGeom prst="roundRect">
            <a:avLst>
              <a:gd name="adj" fmla="val 10400"/>
            </a:avLst>
          </a:prstGeom>
          <a:solidFill>
            <a:srgbClr val="E6F8F7"/>
          </a:solidFill>
          <a:ln w="12700">
            <a:solidFill>
              <a:srgbClr val="0B9EA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87568" y="215798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FIRST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687568" y="26060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exact SQLite → 2. semantic (0.92)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119872" y="2350008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23" name="Shape 21"/>
          <p:cNvSpPr/>
          <p:nvPr/>
        </p:nvSpPr>
        <p:spPr>
          <a:xfrm>
            <a:off x="8485632" y="2029968"/>
            <a:ext cx="3044952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641080" y="2148840"/>
            <a:ext cx="26791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MISS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613648" y="264261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→ generate → validate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0021824" y="3163824"/>
            <a:ext cx="0" cy="438912"/>
          </a:xfrm>
          <a:prstGeom prst="line">
            <a:avLst/>
          </a:prstGeom>
          <a:noFill/>
          <a:ln w="25400">
            <a:solidFill>
              <a:srgbClr val="0B9EA4"/>
            </a:solidFill>
            <a:prstDash val="solid"/>
            <a:headEnd type="none"/>
            <a:tailEnd type="none"/>
          </a:ln>
        </p:spPr>
      </p:sp>
      <p:sp>
        <p:nvSpPr>
          <p:cNvPr id="27" name="Shape 25"/>
          <p:cNvSpPr/>
          <p:nvPr/>
        </p:nvSpPr>
        <p:spPr>
          <a:xfrm>
            <a:off x="8211312" y="3657600"/>
            <a:ext cx="3602736" cy="896112"/>
          </a:xfrm>
          <a:prstGeom prst="roundRect">
            <a:avLst>
              <a:gd name="adj" fmla="val 13265"/>
            </a:avLst>
          </a:prstGeom>
          <a:solidFill>
            <a:srgbClr val="EAF4FB"/>
          </a:solidFill>
          <a:ln w="12700">
            <a:solidFill>
              <a:srgbClr val="3466C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48472" y="3794760"/>
            <a:ext cx="3291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RAG: dense / hybrid → MAIN model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8339328" y="4178808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 Tools: Lab 6 agent + ToolGuard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0" y="3090672"/>
            <a:ext cx="0" cy="1005840"/>
          </a:xfrm>
          <a:prstGeom prst="line">
            <a:avLst/>
          </a:prstGeom>
          <a:noFill/>
          <a:ln w="25400">
            <a:solidFill>
              <a:srgbClr val="0B9EA4"/>
            </a:solidFill>
            <a:prstDash val="solid"/>
            <a:headEnd type="none"/>
            <a:tailEnd type="none"/>
          </a:ln>
        </p:spPr>
      </p:sp>
      <p:sp>
        <p:nvSpPr>
          <p:cNvPr id="31" name="Shape 29"/>
          <p:cNvSpPr/>
          <p:nvPr/>
        </p:nvSpPr>
        <p:spPr>
          <a:xfrm>
            <a:off x="621792" y="4160520"/>
            <a:ext cx="5486400" cy="969264"/>
          </a:xfrm>
          <a:prstGeom prst="roundRect">
            <a:avLst>
              <a:gd name="adj" fmla="val 12264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5528" y="4270248"/>
            <a:ext cx="5047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/ask/stream (separate RAG path)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04672" y="4645152"/>
            <a:ext cx="4974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SSE tokens → validation event → done  |  SMALL model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2648" y="5404104"/>
            <a:ext cx="10991088" cy="621792"/>
          </a:xfrm>
          <a:prstGeom prst="roundRect">
            <a:avLst>
              <a:gd name="adj" fmla="val 19118"/>
            </a:avLst>
          </a:prstGeom>
          <a:solidFill>
            <a:srgbClr val="10243B"/>
          </a:solidFill>
          <a:ln w="12700">
            <a:solidFill>
              <a:srgbClr val="10243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04672" y="5559552"/>
            <a:ext cx="16002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0E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REQUEST: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2414016" y="5532120"/>
            <a:ext cx="88056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trace_id  ·  cost_usd  ·  latency_ms  ·  citations  ·  cached flag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A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+ UI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Grounded responses, guarded actions, useful errors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notebook answer became a documented API response that someone else can inspect.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76072" y="2084832"/>
            <a:ext cx="5788152" cy="3172968"/>
          </a:xfrm>
          <a:prstGeom prst="roundRect">
            <a:avLst>
              <a:gd name="adj" fmla="val 3746"/>
            </a:avLst>
          </a:prstGeom>
          <a:solidFill>
            <a:srgbClr val="10243B"/>
          </a:solidFill>
          <a:ln w="12700">
            <a:solidFill>
              <a:srgbClr val="10243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2322576"/>
            <a:ext cx="53675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83DF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POST /ask   ·   mode="rag"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816352"/>
            <a:ext cx="5266944" cy="0"/>
          </a:xfrm>
          <a:prstGeom prst="line">
            <a:avLst/>
          </a:prstGeom>
          <a:noFill/>
          <a:ln w="12700">
            <a:solidFill>
              <a:srgbClr val="3B6074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32104" y="3026664"/>
            <a:ext cx="5102352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Q: What is the Gold room-rent limit?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832104" y="3566160"/>
            <a:ext cx="515721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E1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A: Single private room, no monetary cap;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9E1E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suites and deluxe rooms above that category excluded.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22960" y="4709160"/>
            <a:ext cx="2002536" cy="283464"/>
          </a:xfrm>
          <a:prstGeom prst="roundRect">
            <a:avLst>
              <a:gd name="adj" fmla="val 51613"/>
            </a:avLst>
          </a:prstGeom>
          <a:solidFill>
            <a:srgbClr val="234F55"/>
          </a:solidFill>
          <a:ln w="12700">
            <a:solidFill>
              <a:srgbClr val="234F55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96112" y="4718304"/>
            <a:ext cx="18562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DF3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CITED  [2] [3] [5]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38544" y="2084832"/>
            <a:ext cx="4882896" cy="1014984"/>
          </a:xfrm>
          <a:prstGeom prst="roundRect">
            <a:avLst>
              <a:gd name="adj" fmla="val 11712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638544" y="2084832"/>
            <a:ext cx="50292" cy="1014984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30568" y="2221992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Readable UI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830568" y="2679192"/>
            <a:ext cx="4489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Expandable source excerpts in Streamlit</a:t>
            </a:r>
            <a:endParaRPr lang="en-US" sz="1220" dirty="0"/>
          </a:p>
        </p:txBody>
      </p:sp>
      <p:sp>
        <p:nvSpPr>
          <p:cNvPr id="22" name="Shape 20"/>
          <p:cNvSpPr/>
          <p:nvPr/>
        </p:nvSpPr>
        <p:spPr>
          <a:xfrm>
            <a:off x="6638544" y="3246120"/>
            <a:ext cx="4882896" cy="1014984"/>
          </a:xfrm>
          <a:prstGeom prst="roundRect">
            <a:avLst>
              <a:gd name="adj" fmla="val 11712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638544" y="3246120"/>
            <a:ext cx="50292" cy="1014984"/>
          </a:xfrm>
          <a:prstGeom prst="rect">
            <a:avLst/>
          </a:prstGeom>
          <a:solidFill>
            <a:srgbClr val="3466C6"/>
          </a:solidFill>
          <a:ln w="12700">
            <a:solidFill>
              <a:srgbClr val="3466C6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30568" y="3383280"/>
            <a:ext cx="44988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Guards + tools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30568" y="3840480"/>
            <a:ext cx="4489704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22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lookup allowed; refund tool action blocked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6638544" y="4453128"/>
            <a:ext cx="4882896" cy="804672"/>
          </a:xfrm>
          <a:prstGeom prst="roundRect">
            <a:avLst>
              <a:gd name="adj" fmla="val 14773"/>
            </a:avLst>
          </a:prstGeom>
          <a:solidFill>
            <a:srgbClr val="FFF3DF"/>
          </a:solidFill>
          <a:ln w="12700">
            <a:solidFill>
              <a:srgbClr val="FFF3D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12280" y="4681728"/>
            <a:ext cx="4544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422  malformed  ·  429  budget  ·  503  upstream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0080" y="5797296"/>
            <a:ext cx="1093622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Endpoints: /ask  ·  /ask/stream  ·  /health  ·  /metrics  ·  /docs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FIRST CACHE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Exact caching removed almost all repeat work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identical localhost queries, following a warm-up; client-side latency includes HTTP overhead.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8368" y="2057400"/>
            <a:ext cx="3364992" cy="1837944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8096" y="219456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/ 30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768096" y="288950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HITS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8096" y="324612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hit rate · 0 errors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79976" y="2057400"/>
            <a:ext cx="3364992" cy="1837944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89704" y="219456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7.95 ms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489704" y="288950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CLIENT-OBSERVED p95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489704" y="324612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≤ 800 ms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074152" y="2057400"/>
            <a:ext cx="3364992" cy="1837944"/>
          </a:xfrm>
          <a:prstGeom prst="roundRect">
            <a:avLst>
              <a:gd name="adj" fmla="val 646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83880" y="2194560"/>
            <a:ext cx="3145536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46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$0.000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183880" y="2889504"/>
            <a:ext cx="31455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ADDITIONAL COST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83880" y="3246120"/>
            <a:ext cx="31455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new model generation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" y="4261104"/>
            <a:ext cx="10835640" cy="1188720"/>
          </a:xfrm>
          <a:prstGeom prst="roundRect">
            <a:avLst>
              <a:gd name="adj" fmla="val 10000"/>
            </a:avLst>
          </a:prstGeom>
          <a:solidFill>
            <a:srgbClr val="10243B"/>
          </a:solidFill>
          <a:ln w="12700">
            <a:solidFill>
              <a:srgbClr val="10243B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4489704"/>
            <a:ext cx="19568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0E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788920" y="4434840"/>
            <a:ext cx="82478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question + mode + top_k  →  hash key  →  SQLite response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04088" y="5760720"/>
            <a:ext cx="10643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proves warm exact-cache performance, not uncached or concurrent production latency.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 CACHE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most important caching test found a wrong answer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Cosine similarity ≥ 0.92 was not enough: Silver and Gold questions sounded alike.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" y="2112264"/>
            <a:ext cx="5248656" cy="2606040"/>
          </a:xfrm>
          <a:prstGeom prst="roundRect">
            <a:avLst>
              <a:gd name="adj" fmla="val 4561"/>
            </a:avLst>
          </a:prstGeom>
          <a:solidFill>
            <a:srgbClr val="FFF0F1"/>
          </a:solidFill>
          <a:ln w="12700">
            <a:solidFill>
              <a:srgbClr val="F2BDC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" y="2304288"/>
            <a:ext cx="1755648" cy="283464"/>
          </a:xfrm>
          <a:prstGeom prst="roundRect">
            <a:avLst>
              <a:gd name="adj" fmla="val 51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2313432"/>
            <a:ext cx="160934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4E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/ FAILURE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86968" y="2834640"/>
            <a:ext cx="45628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question → cached answer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3337560"/>
            <a:ext cx="4526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D54E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 one word: Silver → Gold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86968" y="3895344"/>
            <a:ext cx="4535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got Silver’s ₹10,000 limit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6227064" y="2112264"/>
            <a:ext cx="5303520" cy="2606040"/>
          </a:xfrm>
          <a:prstGeom prst="roundRect">
            <a:avLst>
              <a:gd name="adj" fmla="val 4561"/>
            </a:avLst>
          </a:prstGeom>
          <a:solidFill>
            <a:srgbClr val="E8F7F1"/>
          </a:solidFill>
          <a:ln w="12700">
            <a:solidFill>
              <a:srgbClr val="B6E3D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37376" y="2304288"/>
            <a:ext cx="1938528" cy="283464"/>
          </a:xfrm>
          <a:prstGeom prst="roundRect">
            <a:avLst>
              <a:gd name="adj" fmla="val 51613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510528" y="2313432"/>
            <a:ext cx="1792224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/ SAFEGUARD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92240" y="2834640"/>
            <a:ext cx="4626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plan names + numerical values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92240" y="3319272"/>
            <a:ext cx="462686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require cosine ≥ 0.92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492240" y="3895344"/>
            <a:ext cx="459028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now bypasses Silver’s cache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649224" y="4965192"/>
            <a:ext cx="5294376" cy="73152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5093208"/>
            <a:ext cx="2185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Silver paraphrase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008376" y="50932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hit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90288" y="509320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593 ms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99632" y="4965192"/>
            <a:ext cx="5294376" cy="731520"/>
          </a:xfrm>
          <a:prstGeom prst="roundRect">
            <a:avLst>
              <a:gd name="adj" fmla="val 16250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55080" y="5093208"/>
            <a:ext cx="218541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Gold plan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8558784" y="5093208"/>
            <a:ext cx="1517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D54E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cache miss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140696" y="5093208"/>
            <a:ext cx="11887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3,597 ms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85800" y="5989320"/>
            <a:ext cx="10753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Limitation: matching plan + amount does not guarantee that two questions seek the same benefit.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B2/B3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STREAMING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Faster perceived feedback creates a validation dilemma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stream text first, then tell the client whether the completed answer passed.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0080" y="2258568"/>
            <a:ext cx="2688336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" y="24140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143000" y="2359152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68096" y="291693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 answer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00984" y="2551176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3529584" y="2258568"/>
            <a:ext cx="2688336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8456" y="24140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032504" y="2359152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657600" y="291693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text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90488" y="2551176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21" name="Shape 19"/>
          <p:cNvSpPr/>
          <p:nvPr/>
        </p:nvSpPr>
        <p:spPr>
          <a:xfrm>
            <a:off x="6419088" y="2258568"/>
            <a:ext cx="2688336" cy="1115568"/>
          </a:xfrm>
          <a:prstGeom prst="roundRect">
            <a:avLst>
              <a:gd name="adj" fmla="val 10656"/>
            </a:avLst>
          </a:prstGeom>
          <a:solidFill>
            <a:srgbClr val="FFF3D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24140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922008" y="2359152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47104" y="291693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/ refused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9079992" y="2551176"/>
            <a:ext cx="329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›</a:t>
            </a:r>
            <a:endParaRPr lang="en-US" sz="2800" dirty="0"/>
          </a:p>
        </p:txBody>
      </p:sp>
      <p:sp>
        <p:nvSpPr>
          <p:cNvPr id="26" name="Shape 24"/>
          <p:cNvSpPr/>
          <p:nvPr/>
        </p:nvSpPr>
        <p:spPr>
          <a:xfrm>
            <a:off x="9308592" y="2258568"/>
            <a:ext cx="2688336" cy="1115568"/>
          </a:xfrm>
          <a:prstGeom prst="roundRect">
            <a:avLst>
              <a:gd name="adj" fmla="val 10656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427464" y="2414016"/>
            <a:ext cx="320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9811512" y="2359152"/>
            <a:ext cx="19933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done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9436608" y="2916936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TTFT / total / citations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40080" y="3685032"/>
            <a:ext cx="5303520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59536" y="3858768"/>
            <a:ext cx="255117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answer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3099816" y="3886200"/>
            <a:ext cx="25877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D54E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2,329.8 ms TTFT</a:t>
            </a:r>
            <a:endParaRPr lang="en-US" sz="1700" dirty="0"/>
          </a:p>
        </p:txBody>
      </p:sp>
      <p:sp>
        <p:nvSpPr>
          <p:cNvPr id="33" name="Text 31"/>
          <p:cNvSpPr/>
          <p:nvPr/>
        </p:nvSpPr>
        <p:spPr>
          <a:xfrm>
            <a:off x="859536" y="4361688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 answer; missed 1,500 ms first-token target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181344" y="3685032"/>
            <a:ext cx="5330952" cy="1161288"/>
          </a:xfrm>
          <a:prstGeom prst="roundRect">
            <a:avLst>
              <a:gd name="adj" fmla="val 10236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3858768"/>
            <a:ext cx="284378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Diamond (unsupported)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9144000" y="3886200"/>
            <a:ext cx="212140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1,495.7 ms</a:t>
            </a:r>
            <a:endParaRPr lang="en-US" sz="1700" dirty="0"/>
          </a:p>
        </p:txBody>
      </p:sp>
      <p:sp>
        <p:nvSpPr>
          <p:cNvPr id="37" name="Text 35"/>
          <p:cNvSpPr/>
          <p:nvPr/>
        </p:nvSpPr>
        <p:spPr>
          <a:xfrm>
            <a:off x="6400800" y="4361688"/>
            <a:ext cx="4764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refusal; final validation valid=true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40080" y="5230368"/>
            <a:ext cx="10853928" cy="758952"/>
          </a:xfrm>
          <a:prstGeom prst="roundRect">
            <a:avLst>
              <a:gd name="adj" fmla="val 15663"/>
            </a:avLst>
          </a:prstGeom>
          <a:solidFill>
            <a:srgbClr val="10243B"/>
          </a:solidFill>
          <a:ln w="12700">
            <a:solidFill>
              <a:srgbClr val="10243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0392" y="5449824"/>
            <a:ext cx="16459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8EE9E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B3 TRADE-OFF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395728" y="5367528"/>
            <a:ext cx="8805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Already-streamed invalid text cannot be taken back: UI must mark it provisional.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Tracing told us why requests were slow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Stage spans, request IDs, cache tags, and a dashboard—useful beyond a pretty chart.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04088" y="2029968"/>
            <a:ext cx="108539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p95 STAGE MEASUREMENTS  ·  second 10-query live sample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94944" y="2459736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Query embedding (individual spans)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059936" y="2523744"/>
            <a:ext cx="6172200" cy="201168"/>
          </a:xfrm>
          <a:prstGeom prst="rect">
            <a:avLst/>
          </a:prstGeom>
          <a:solidFill>
            <a:srgbClr val="EDF2F6"/>
          </a:solidFill>
          <a:ln w="12700">
            <a:solidFill>
              <a:srgbClr val="EDF2F6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59936" y="2523744"/>
            <a:ext cx="902661" cy="201168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296144" y="2459736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950.6 ms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4944" y="3154680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Dense retrieval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059936" y="3218688"/>
            <a:ext cx="6172200" cy="201168"/>
          </a:xfrm>
          <a:prstGeom prst="rect">
            <a:avLst/>
          </a:prstGeom>
          <a:solidFill>
            <a:srgbClr val="EDF2F6"/>
          </a:solidFill>
          <a:ln w="12700">
            <a:solidFill>
              <a:srgbClr val="EDF2F6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9936" y="3218688"/>
            <a:ext cx="18288" cy="201168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96144" y="3154680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1.5 ms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4944" y="3849624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LLM generation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059936" y="3913632"/>
            <a:ext cx="6172200" cy="201168"/>
          </a:xfrm>
          <a:prstGeom prst="rect">
            <a:avLst/>
          </a:prstGeom>
          <a:solidFill>
            <a:srgbClr val="EDF2F6"/>
          </a:solidFill>
          <a:ln w="12700">
            <a:solidFill>
              <a:srgbClr val="EDF2F6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59936" y="3913632"/>
            <a:ext cx="6103831" cy="201168"/>
          </a:xfrm>
          <a:prstGeom prst="rect">
            <a:avLst/>
          </a:prstGeom>
          <a:solidFill>
            <a:srgbClr val="D54E5D"/>
          </a:solidFill>
          <a:ln w="12700">
            <a:solidFill>
              <a:srgbClr val="D54E5D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296144" y="3849624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6,428 ms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94944" y="4544568"/>
            <a:ext cx="3182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059936" y="4608576"/>
            <a:ext cx="6172200" cy="201168"/>
          </a:xfrm>
          <a:prstGeom prst="rect">
            <a:avLst/>
          </a:prstGeom>
          <a:solidFill>
            <a:srgbClr val="EDF2F6"/>
          </a:solidFill>
          <a:ln w="12700">
            <a:solidFill>
              <a:srgbClr val="EDF2F6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59936" y="4608576"/>
            <a:ext cx="18288" cy="201168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296144" y="454456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0.1 ms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67512" y="5303520"/>
            <a:ext cx="10844784" cy="612648"/>
          </a:xfrm>
          <a:prstGeom prst="roundRect">
            <a:avLst>
              <a:gd name="adj" fmla="val 19403"/>
            </a:avLst>
          </a:prstGeom>
          <a:solidFill>
            <a:srgbClr val="FFF3DF"/>
          </a:solidFill>
          <a:ln w="12700">
            <a:solidFill>
              <a:srgbClr val="FFF3DF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59536" y="5477256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D88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WATCH OUT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066544" y="5404104"/>
            <a:ext cx="917143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cost includes unrelated evaluation calls; its $0.010436/request is not service-only cost.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94944" y="6071616"/>
            <a:ext cx="10890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Alert: request p95 &gt; 6,000 ms  →  inspect slow trace spans; generation dominated these samples.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B4 / 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OPTIMIZATION EXPERIMENTS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“smaller model” and “fewer tokens” shortcuts backfired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tested configurations and kept the one with a better observed latency–quality trade-off.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6656" y="2066544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/ medium / 1024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09744" y="2112264"/>
            <a:ext cx="5486400" cy="228600"/>
          </a:xfrm>
          <a:prstGeom prst="rect">
            <a:avLst/>
          </a:prstGeom>
          <a:solidFill>
            <a:srgbClr val="EDF2F6"/>
          </a:solidFill>
          <a:ln w="12700">
            <a:solidFill>
              <a:srgbClr val="EDF2F6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09744" y="2112264"/>
            <a:ext cx="3606394" cy="228600"/>
          </a:xfrm>
          <a:prstGeom prst="rect">
            <a:avLst/>
          </a:prstGeom>
          <a:solidFill>
            <a:srgbClr val="66798F"/>
          </a:solidFill>
          <a:ln w="12700">
            <a:solidFill>
              <a:srgbClr val="66798F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497312" y="2066544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9.86 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76656" y="265176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SMALL / default / 1024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9744" y="2697480"/>
            <a:ext cx="5486400" cy="228600"/>
          </a:xfrm>
          <a:prstGeom prst="rect">
            <a:avLst/>
          </a:prstGeom>
          <a:solidFill>
            <a:srgbClr val="EDF2F6"/>
          </a:solidFill>
          <a:ln w="12700">
            <a:solidFill>
              <a:srgbClr val="EDF2F6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9744" y="2697480"/>
            <a:ext cx="3664915" cy="228600"/>
          </a:xfrm>
          <a:prstGeom prst="rect">
            <a:avLst/>
          </a:prstGeom>
          <a:solidFill>
            <a:srgbClr val="66798F"/>
          </a:solidFill>
          <a:ln w="12700">
            <a:solidFill>
              <a:srgbClr val="66798F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497312" y="2651760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10.02 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76656" y="3236976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/ medium / 512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9744" y="3282696"/>
            <a:ext cx="5486400" cy="228600"/>
          </a:xfrm>
          <a:prstGeom prst="rect">
            <a:avLst/>
          </a:prstGeom>
          <a:solidFill>
            <a:srgbClr val="EDF2F6"/>
          </a:solidFill>
          <a:ln w="12700">
            <a:solidFill>
              <a:srgbClr val="EDF2F6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9744" y="3282696"/>
            <a:ext cx="5230368" cy="228600"/>
          </a:xfrm>
          <a:prstGeom prst="rect">
            <a:avLst/>
          </a:prstGeom>
          <a:solidFill>
            <a:srgbClr val="D54E5D"/>
          </a:solidFill>
          <a:ln w="12700">
            <a:solidFill>
              <a:srgbClr val="D54E5D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97312" y="3236976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14.30 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76656" y="3822192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/ low / 1024 — sample 1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09744" y="3867912"/>
            <a:ext cx="5486400" cy="228600"/>
          </a:xfrm>
          <a:prstGeom prst="rect">
            <a:avLst/>
          </a:prstGeom>
          <a:solidFill>
            <a:srgbClr val="EDF2F6"/>
          </a:solidFill>
          <a:ln w="12700">
            <a:solidFill>
              <a:srgbClr val="EDF2F6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9744" y="3867912"/>
            <a:ext cx="2231136" cy="228600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497312" y="3822192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6.10 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76656" y="4407408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/ low / 1024 — sample 2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9744" y="4453128"/>
            <a:ext cx="5486400" cy="228600"/>
          </a:xfrm>
          <a:prstGeom prst="rect">
            <a:avLst/>
          </a:prstGeom>
          <a:solidFill>
            <a:srgbClr val="EDF2F6"/>
          </a:solidFill>
          <a:ln w="12700">
            <a:solidFill>
              <a:srgbClr val="EDF2F6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9744" y="4453128"/>
            <a:ext cx="2699309" cy="228600"/>
          </a:xfrm>
          <a:prstGeom prst="rect">
            <a:avLst/>
          </a:prstGeom>
          <a:solidFill>
            <a:srgbClr val="3466C6"/>
          </a:solidFill>
          <a:ln w="12700">
            <a:solidFill>
              <a:srgbClr val="3466C6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497312" y="4407408"/>
            <a:ext cx="969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7.38 s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58368" y="5212080"/>
            <a:ext cx="10808208" cy="795528"/>
          </a:xfrm>
          <a:prstGeom prst="roundRect">
            <a:avLst>
              <a:gd name="adj" fmla="val 14943"/>
            </a:avLst>
          </a:prstGeom>
          <a:solidFill>
            <a:srgbClr val="10243B"/>
          </a:solidFill>
          <a:ln w="12700">
            <a:solidFill>
              <a:srgbClr val="10243B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96112" y="543153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8BE7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1993392" y="5376672"/>
            <a:ext cx="9125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3.7 Flash  ·  low reasoning  ·  1,024 output tokens  ·  top-5 context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694944" y="6144768"/>
            <a:ext cx="109087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question sets, n=10 each: indicative comparisons—not a controlled randomized A/B test.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D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REGRESSION GATE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All 8 offline thresholds passed—and we made it fail on purpose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Golden set: 45 questions (40 answerable; 5 unanswerable). CI replays committed model calls.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121408"/>
            <a:ext cx="5266944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267712"/>
            <a:ext cx="265176" cy="265176"/>
          </a:xfrm>
          <a:prstGeom prst="roundRect">
            <a:avLst>
              <a:gd name="adj" fmla="val 27586"/>
            </a:avLst>
          </a:prstGeom>
          <a:solidFill>
            <a:srgbClr val="E8F7F1"/>
          </a:solidFill>
          <a:ln w="12700">
            <a:solidFill>
              <a:srgbClr val="E8F7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226314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79576" y="2221992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Correctness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657600" y="2221992"/>
            <a:ext cx="1069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0.8375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818888" y="2231136"/>
            <a:ext cx="996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0.75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85800" y="2788920"/>
            <a:ext cx="5266944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04672" y="2935224"/>
            <a:ext cx="265176" cy="265176"/>
          </a:xfrm>
          <a:prstGeom prst="roundRect">
            <a:avLst>
              <a:gd name="adj" fmla="val 27586"/>
            </a:avLst>
          </a:prstGeom>
          <a:solidFill>
            <a:srgbClr val="E8F7F1"/>
          </a:solidFill>
          <a:ln w="12700">
            <a:solidFill>
              <a:srgbClr val="E8F7F1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293065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179576" y="2889504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Faithfulness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657600" y="2889504"/>
            <a:ext cx="1069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0.9333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18888" y="2898648"/>
            <a:ext cx="996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0.90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3456432"/>
            <a:ext cx="5266944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4672" y="3602736"/>
            <a:ext cx="265176" cy="265176"/>
          </a:xfrm>
          <a:prstGeom prst="roundRect">
            <a:avLst>
              <a:gd name="adj" fmla="val 27586"/>
            </a:avLst>
          </a:prstGeom>
          <a:solidFill>
            <a:srgbClr val="E8F7F1"/>
          </a:solidFill>
          <a:ln w="12700">
            <a:solidFill>
              <a:srgbClr val="E8F7F1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359816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179576" y="3557016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Citation validity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657600" y="3557016"/>
            <a:ext cx="1069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1.0000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18888" y="3566160"/>
            <a:ext cx="996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0.98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199632" y="2121408"/>
            <a:ext cx="5266944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18504" y="2267712"/>
            <a:ext cx="265176" cy="265176"/>
          </a:xfrm>
          <a:prstGeom prst="roundRect">
            <a:avLst>
              <a:gd name="adj" fmla="val 27586"/>
            </a:avLst>
          </a:prstGeom>
          <a:solidFill>
            <a:srgbClr val="E8F7F1"/>
          </a:solidFill>
          <a:ln w="12700">
            <a:solidFill>
              <a:srgbClr val="E8F7F1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18504" y="2263140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693408" y="2221992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Refusal recall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9171432" y="2221992"/>
            <a:ext cx="1069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5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332720" y="2231136"/>
            <a:ext cx="996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0.80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199632" y="2788920"/>
            <a:ext cx="5266944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318504" y="2935224"/>
            <a:ext cx="265176" cy="265176"/>
          </a:xfrm>
          <a:prstGeom prst="roundRect">
            <a:avLst>
              <a:gd name="adj" fmla="val 27586"/>
            </a:avLst>
          </a:prstGeom>
          <a:solidFill>
            <a:srgbClr val="E8F7F1"/>
          </a:solidFill>
          <a:ln w="12700">
            <a:solidFill>
              <a:srgbClr val="E8F7F1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318504" y="2930652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693408" y="2889504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Refusal precision</a:t>
            </a:r>
            <a:endParaRPr lang="en-US" sz="1250" dirty="0"/>
          </a:p>
        </p:txBody>
      </p:sp>
      <p:sp>
        <p:nvSpPr>
          <p:cNvPr id="39" name="Text 37"/>
          <p:cNvSpPr/>
          <p:nvPr/>
        </p:nvSpPr>
        <p:spPr>
          <a:xfrm>
            <a:off x="9171432" y="2889504"/>
            <a:ext cx="1069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7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0332720" y="2898648"/>
            <a:ext cx="996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0.70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199632" y="3456432"/>
            <a:ext cx="5266944" cy="566928"/>
          </a:xfrm>
          <a:prstGeom prst="roundRect">
            <a:avLst>
              <a:gd name="adj" fmla="val 2096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318504" y="3602736"/>
            <a:ext cx="265176" cy="265176"/>
          </a:xfrm>
          <a:prstGeom prst="roundRect">
            <a:avLst>
              <a:gd name="adj" fmla="val 27586"/>
            </a:avLst>
          </a:prstGeom>
          <a:solidFill>
            <a:srgbClr val="E8F7F1"/>
          </a:solidFill>
          <a:ln w="12700">
            <a:solidFill>
              <a:srgbClr val="E8F7F1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18504" y="3598164"/>
            <a:ext cx="2651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✓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6693408" y="3557016"/>
            <a:ext cx="2404872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Retrieval hit@5</a:t>
            </a:r>
            <a:endParaRPr lang="en-US" sz="1250" dirty="0"/>
          </a:p>
        </p:txBody>
      </p:sp>
      <p:sp>
        <p:nvSpPr>
          <p:cNvPr id="45" name="Text 43"/>
          <p:cNvSpPr/>
          <p:nvPr/>
        </p:nvSpPr>
        <p:spPr>
          <a:xfrm>
            <a:off x="9171432" y="3557016"/>
            <a:ext cx="1069848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1.0000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10332720" y="3566160"/>
            <a:ext cx="99669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≥ 0.85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676656" y="4407408"/>
            <a:ext cx="5303520" cy="1005840"/>
          </a:xfrm>
          <a:prstGeom prst="roundRect">
            <a:avLst>
              <a:gd name="adj" fmla="val 11818"/>
            </a:avLst>
          </a:prstGeom>
          <a:solidFill>
            <a:srgbClr val="FFF0F1"/>
          </a:solidFill>
          <a:ln w="12700">
            <a:solidFill>
              <a:srgbClr val="FFF0F1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7824" y="4608576"/>
            <a:ext cx="4544568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D54E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 / intentional test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877824" y="5029200"/>
            <a:ext cx="459943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Tighten threshold → fail with non-zero exit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6190488" y="4407408"/>
            <a:ext cx="5285232" cy="1005840"/>
          </a:xfrm>
          <a:prstGeom prst="roundRect">
            <a:avLst>
              <a:gd name="adj" fmla="val 11818"/>
            </a:avLst>
          </a:prstGeom>
          <a:solidFill>
            <a:srgbClr val="E8F7F1"/>
          </a:solidFill>
          <a:ln w="12700">
            <a:solidFill>
              <a:srgbClr val="E8F7F1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91656" y="4608576"/>
            <a:ext cx="46177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GREEN / restored</a:t>
            </a:r>
            <a:endParaRPr lang="en-US" sz="1500" dirty="0"/>
          </a:p>
        </p:txBody>
      </p:sp>
      <p:sp>
        <p:nvSpPr>
          <p:cNvPr id="52" name="Text 50"/>
          <p:cNvSpPr/>
          <p:nvPr/>
        </p:nvSpPr>
        <p:spPr>
          <a:xfrm>
            <a:off x="6391656" y="5029200"/>
            <a:ext cx="46177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8 checks passed locally and in CI</a:t>
            </a:r>
            <a:endParaRPr lang="en-US" sz="1150" dirty="0"/>
          </a:p>
        </p:txBody>
      </p:sp>
      <p:sp>
        <p:nvSpPr>
          <p:cNvPr id="53" name="Text 51"/>
          <p:cNvSpPr/>
          <p:nvPr/>
        </p:nvSpPr>
        <p:spPr>
          <a:xfrm>
            <a:off x="694944" y="5888736"/>
            <a:ext cx="1089050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replay: ~$0 and p95 ~1.15 ms are CACHE measurements, not live serving SLO proof.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E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HONEST EVALUATION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working prototype still has real operational limits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report explicitly quantifies what failed and where it is unsafe to use the assistant.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30936" y="2130552"/>
            <a:ext cx="3621024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95528" y="2313432"/>
            <a:ext cx="1700784" cy="283464"/>
          </a:xfrm>
          <a:prstGeom prst="roundRect">
            <a:avLst>
              <a:gd name="adj" fmla="val 51613"/>
            </a:avLst>
          </a:prstGeom>
          <a:solidFill>
            <a:srgbClr val="FFF0F1"/>
          </a:solidFill>
          <a:ln w="12700">
            <a:solidFill>
              <a:srgbClr val="FFF0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322576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54E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p95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13816" y="2862072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54E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6.10–7.38 s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813816" y="3502152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Target ≤ 6 s; not repeatably met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13816" y="4078224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/ provider outliers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71416" y="2130552"/>
            <a:ext cx="3621024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36008" y="2313432"/>
            <a:ext cx="1700784" cy="283464"/>
          </a:xfrm>
          <a:prstGeom prst="roundRect">
            <a:avLst>
              <a:gd name="adj" fmla="val 51613"/>
            </a:avLst>
          </a:prstGeom>
          <a:solidFill>
            <a:srgbClr val="FFF3DF"/>
          </a:solidFill>
          <a:ln w="12700">
            <a:solidFill>
              <a:srgbClr val="FFF3DF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09160" y="2322576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88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ARCHIVED SOURCES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54296" y="2862072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88A2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45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4654296" y="3502152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Historical 2024 file appeared in top-5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54296" y="4078224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versioning risk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311896" y="2130552"/>
            <a:ext cx="3621024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476488" y="2313432"/>
            <a:ext cx="1700784" cy="283464"/>
          </a:xfrm>
          <a:prstGeom prst="roundRect">
            <a:avLst>
              <a:gd name="adj" fmla="val 51613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549640" y="2322576"/>
            <a:ext cx="1554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46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REFUSALS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494776" y="2862072"/>
            <a:ext cx="32552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466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40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8494776" y="3502152"/>
            <a:ext cx="3236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Q23 and Q44 were answerable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494776" y="4078224"/>
            <a:ext cx="32369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useful information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4745736"/>
            <a:ext cx="10844784" cy="594360"/>
          </a:xfrm>
          <a:prstGeom prst="roundRect">
            <a:avLst>
              <a:gd name="adj" fmla="val 20000"/>
            </a:avLst>
          </a:prstGeom>
          <a:solidFill>
            <a:srgbClr val="10243B"/>
          </a:solidFill>
          <a:ln w="12700">
            <a:solidFill>
              <a:srgbClr val="10243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41248" y="4901184"/>
            <a:ext cx="103967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Serving cost:  $0.001015/query  ≈  $1.015 / 1,000  ≈  $3,705 / year at 10k/day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58368" y="5742432"/>
            <a:ext cx="1084478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boundary: explanation only—not claim approval, payment, or binding coverage decisions.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IMPROVEMENTS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we would do next—based on evidence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Prioritized by reducing customer-facing risk and making performance more predictable.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67512" y="2066544"/>
            <a:ext cx="10817352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32104" y="2249424"/>
            <a:ext cx="621792" cy="557784"/>
          </a:xfrm>
          <a:prstGeom prst="roundRect">
            <a:avLst>
              <a:gd name="adj" fmla="val 21311"/>
            </a:avLst>
          </a:prstGeom>
          <a:solidFill>
            <a:srgbClr val="FFF0F1"/>
          </a:solidFill>
          <a:ln w="12700">
            <a:solidFill>
              <a:srgbClr val="FFF0F1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50976" y="2359152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54E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27632" y="2176272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Predictable live latency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627632" y="2578608"/>
            <a:ext cx="599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larger matched uncached samples; inspect LLM outliers, retry behavior and provider variance.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66176" y="2203704"/>
            <a:ext cx="36576" cy="740664"/>
          </a:xfrm>
          <a:prstGeom prst="rect">
            <a:avLst/>
          </a:prstGeom>
          <a:solidFill>
            <a:srgbClr val="D54E5D"/>
          </a:solidFill>
          <a:ln w="12700">
            <a:solidFill>
              <a:srgbClr val="D54E5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94776" y="2386584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54E5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uncached p95 ≤ 6 s, consistently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67512" y="3273552"/>
            <a:ext cx="10817352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32104" y="3456432"/>
            <a:ext cx="621792" cy="557784"/>
          </a:xfrm>
          <a:prstGeom prst="roundRect">
            <a:avLst>
              <a:gd name="adj" fmla="val 21311"/>
            </a:avLst>
          </a:prstGeom>
          <a:solidFill>
            <a:srgbClr val="E6F8F7"/>
          </a:solidFill>
          <a:ln w="12700">
            <a:solidFill>
              <a:srgbClr val="E6F8F7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50976" y="3566160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27632" y="3383280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Current-document priority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627632" y="3785616"/>
            <a:ext cx="599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effective-date / version metadata and demote ARCHIVED chunks for current questions.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266176" y="3410712"/>
            <a:ext cx="36576" cy="740664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4776" y="3593592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Archived top-5 exposure: 3/45 → 0/45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67512" y="4480560"/>
            <a:ext cx="10817352" cy="1060704"/>
          </a:xfrm>
          <a:prstGeom prst="roundRect">
            <a:avLst>
              <a:gd name="adj" fmla="val 11207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2104" y="4663440"/>
            <a:ext cx="621792" cy="557784"/>
          </a:xfrm>
          <a:prstGeom prst="roundRect">
            <a:avLst>
              <a:gd name="adj" fmla="val 21311"/>
            </a:avLst>
          </a:prstGeom>
          <a:solidFill>
            <a:srgbClr val="E6F8F7"/>
          </a:solidFill>
          <a:ln w="12700">
            <a:solidFill>
              <a:srgbClr val="E6F8F7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50976" y="4773168"/>
            <a:ext cx="35661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627632" y="4590288"/>
            <a:ext cx="37124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 completeness + safe cache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627632" y="4992624"/>
            <a:ext cx="5998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Q23/Q44 regressions; validate cache equivalence, version keys, and service-scoped cost metrics.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266176" y="4617720"/>
            <a:ext cx="36576" cy="740664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94776" y="4800600"/>
            <a:ext cx="27889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8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False refusals: 2/40 → 0/40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DAY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FIVE-MINUTE LIVE DEMONSTRATION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 the brief’s exact demo sequence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Pre-open Streamlit, /metrics, and terminal. Have saved evidence of the red CI gate.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49224" y="2057400"/>
            <a:ext cx="10844784" cy="512064"/>
          </a:xfrm>
          <a:prstGeom prst="roundRect">
            <a:avLst>
              <a:gd name="adj" fmla="val 23214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13055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0:30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28216" y="2139696"/>
            <a:ext cx="3191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Grounded answer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864608" y="2139696"/>
            <a:ext cx="6327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Gold room-rent limit + expandable citations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9224" y="2679192"/>
            <a:ext cx="10844784" cy="512064"/>
          </a:xfrm>
          <a:prstGeom prst="roundRect">
            <a:avLst>
              <a:gd name="adj" fmla="val 23214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2752344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0:30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728216" y="2761488"/>
            <a:ext cx="3191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Correct refusal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64608" y="2761488"/>
            <a:ext cx="6327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Unsupported Aurora Diamond coverage limit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9224" y="3300984"/>
            <a:ext cx="10844784" cy="512064"/>
          </a:xfrm>
          <a:prstGeom prst="roundRect">
            <a:avLst>
              <a:gd name="adj" fmla="val 23214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3374136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728216" y="3383280"/>
            <a:ext cx="3191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metrics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864608" y="3383280"/>
            <a:ext cx="6327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 /metrics: cost, hit breakdown, latency + caveat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49224" y="3922776"/>
            <a:ext cx="10844784" cy="512064"/>
          </a:xfrm>
          <a:prstGeom prst="roundRect">
            <a:avLst>
              <a:gd name="adj" fmla="val 23214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3995928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728216" y="4005072"/>
            <a:ext cx="3191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 really fails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864608" y="4005072"/>
            <a:ext cx="6327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 intentional RED threshold then GREEN restore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9224" y="4544568"/>
            <a:ext cx="10844784" cy="512064"/>
          </a:xfrm>
          <a:prstGeom prst="roundRect">
            <a:avLst>
              <a:gd name="adj" fmla="val 23214"/>
            </a:avLst>
          </a:prstGeom>
          <a:solidFill>
            <a:srgbClr val="EAF4FB"/>
          </a:solidFill>
          <a:ln w="12700">
            <a:solidFill>
              <a:srgbClr val="EAF4FB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" y="4617720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1728216" y="4626864"/>
            <a:ext cx="3191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Worst remaining failure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4864608" y="4626864"/>
            <a:ext cx="6327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Uncached p95 &gt;6s; generation dominates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9224" y="5166360"/>
            <a:ext cx="10844784" cy="512064"/>
          </a:xfrm>
          <a:prstGeom prst="roundRect">
            <a:avLst>
              <a:gd name="adj" fmla="val 23214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32104" y="5239512"/>
            <a:ext cx="7132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1:00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728216" y="5248656"/>
            <a:ext cx="3191256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Questions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4864608" y="5248656"/>
            <a:ext cx="632764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 ready for why 0.92 and why cache safety mattered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/ FILE MAP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REPRODUCIBILITY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everything lives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paths to answer “show us the code” questions.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94944" y="2011680"/>
            <a:ext cx="1082649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084832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service + caches + streaming</a:t>
            </a:r>
            <a:endParaRPr lang="en-US" sz="1240" dirty="0"/>
          </a:p>
        </p:txBody>
      </p:sp>
      <p:sp>
        <p:nvSpPr>
          <p:cNvPr id="13" name="Text 11"/>
          <p:cNvSpPr/>
          <p:nvPr/>
        </p:nvSpPr>
        <p:spPr>
          <a:xfrm>
            <a:off x="4572000" y="2084832"/>
            <a:ext cx="668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labs/lab7/service.py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32104" y="2578608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(citation expanders)</a:t>
            </a:r>
            <a:endParaRPr lang="en-US" sz="1240" dirty="0"/>
          </a:p>
        </p:txBody>
      </p:sp>
      <p:sp>
        <p:nvSpPr>
          <p:cNvPr id="15" name="Text 13"/>
          <p:cNvSpPr/>
          <p:nvPr/>
        </p:nvSpPr>
        <p:spPr>
          <a:xfrm>
            <a:off x="4572000" y="2578608"/>
            <a:ext cx="668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labs/lab7/ui.py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4944" y="2999232"/>
            <a:ext cx="1082649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32104" y="3072384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Tracing / dashboard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4572000" y="3072384"/>
            <a:ext cx="668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labs/lab7/dashboard.py  ·  .aip_traces/*.jsonl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32104" y="3566160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Thresholds + CI</a:t>
            </a:r>
            <a:endParaRPr lang="en-US" sz="1240" dirty="0"/>
          </a:p>
        </p:txBody>
      </p:sp>
      <p:sp>
        <p:nvSpPr>
          <p:cNvPr id="20" name="Text 18"/>
          <p:cNvSpPr/>
          <p:nvPr/>
        </p:nvSpPr>
        <p:spPr>
          <a:xfrm>
            <a:off x="4572000" y="3566160"/>
            <a:ext cx="668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labs/lab7/thresholds.yml  ·  .github/workflows/eval.yml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4944" y="3986784"/>
            <a:ext cx="1082649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2104" y="4059936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Evaluation gate</a:t>
            </a:r>
            <a:endParaRPr lang="en-US" sz="1240" dirty="0"/>
          </a:p>
        </p:txBody>
      </p:sp>
      <p:sp>
        <p:nvSpPr>
          <p:cNvPr id="23" name="Text 21"/>
          <p:cNvSpPr/>
          <p:nvPr/>
        </p:nvSpPr>
        <p:spPr>
          <a:xfrm>
            <a:off x="4572000" y="4059936"/>
            <a:ext cx="668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labs/lab7/gate.py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104" y="4553712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response cache</a:t>
            </a:r>
            <a:endParaRPr lang="en-US" sz="1240" dirty="0"/>
          </a:p>
        </p:txBody>
      </p:sp>
      <p:sp>
        <p:nvSpPr>
          <p:cNvPr id="25" name="Text 23"/>
          <p:cNvSpPr/>
          <p:nvPr/>
        </p:nvSpPr>
        <p:spPr>
          <a:xfrm>
            <a:off x="4572000" y="4553712"/>
            <a:ext cx="668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.aip_cache/calls.sqlite3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94944" y="4974336"/>
            <a:ext cx="10826496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2104" y="5047488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Saved evidence</a:t>
            </a:r>
            <a:endParaRPr lang="en-US" sz="1240" dirty="0"/>
          </a:p>
        </p:txBody>
      </p:sp>
      <p:sp>
        <p:nvSpPr>
          <p:cNvPr id="28" name="Text 26"/>
          <p:cNvSpPr/>
          <p:nvPr/>
        </p:nvSpPr>
        <p:spPr>
          <a:xfrm>
            <a:off x="4572000" y="5047488"/>
            <a:ext cx="668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reports/lab7_low_reasoning.json  ·  reports/*.csv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32104" y="5541264"/>
            <a:ext cx="376732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40" b="1" dirty="0">
                <a:solidFill>
                  <a:srgbClr val="162B4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 docs</a:t>
            </a:r>
            <a:endParaRPr lang="en-US" sz="1240" dirty="0"/>
          </a:p>
        </p:txBody>
      </p:sp>
      <p:sp>
        <p:nvSpPr>
          <p:cNvPr id="30" name="Text 28"/>
          <p:cNvSpPr/>
          <p:nvPr/>
        </p:nvSpPr>
        <p:spPr>
          <a:xfrm>
            <a:off x="4572000" y="5541264"/>
            <a:ext cx="6684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README.md  ·  EVALUATION_REPORT.md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04672" y="6153912"/>
            <a:ext cx="10497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 response cache is in-memory and resets at server restart; SQLite persists exact/model-call entries.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05156"/>
          </a:xfrm>
          <a:prstGeom prst="rect">
            <a:avLst/>
          </a:prstGeom>
          <a:solidFill>
            <a:srgbClr val="0B9EA4"/>
          </a:solidFill>
          <a:ln w="12700">
            <a:solidFill>
              <a:srgbClr val="0B9EA4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37744"/>
            <a:ext cx="50292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 PRACTICE  /  LAB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8686800" y="237744"/>
            <a:ext cx="29535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APPENDIX / COMMANDS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39496" y="6547104"/>
            <a:ext cx="11119104" cy="0"/>
          </a:xfrm>
          <a:prstGeom prst="line">
            <a:avLst/>
          </a:prstGeom>
          <a:noFill/>
          <a:ln w="10795">
            <a:solidFill>
              <a:srgbClr val="DDE7EF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548640" y="6583680"/>
            <a:ext cx="8001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Aurora policy assistant · evaluation-backed engineering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128248" y="6574536"/>
            <a:ext cx="52120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57784" y="612648"/>
            <a:ext cx="10607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spc="165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 TERMINAL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9496" y="868680"/>
            <a:ext cx="11018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900" b="1" dirty="0">
                <a:solidFill>
                  <a:srgbClr val="10243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Reproduce the key checks</a:t>
            </a:r>
            <a:endParaRPr lang="en-US" sz="2900" dirty="0"/>
          </a:p>
        </p:txBody>
      </p:sp>
      <p:sp>
        <p:nvSpPr>
          <p:cNvPr id="10" name="Text 8"/>
          <p:cNvSpPr/>
          <p:nvPr/>
        </p:nvSpPr>
        <p:spPr>
          <a:xfrm>
            <a:off x="557784" y="1481328"/>
            <a:ext cx="10972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6798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 from the repository root with the virtual environment activated.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011680"/>
            <a:ext cx="10789920" cy="6858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77824" y="2121408"/>
            <a:ext cx="1856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API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77824" y="2331720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-m uvicorn labs.lab7.service:app --port 8000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85800" y="2807208"/>
            <a:ext cx="10789920" cy="685800"/>
          </a:xfrm>
          <a:prstGeom prst="roundRect">
            <a:avLst>
              <a:gd name="adj" fmla="val 17333"/>
            </a:avLst>
          </a:prstGeom>
          <a:solidFill>
            <a:srgbClr val="EAF4FB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" y="2916936"/>
            <a:ext cx="1856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QUESTION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77824" y="3127248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curl -s localhost:8000/ask -H "content-type: application/json" -d '{"question":"What is the Gold room rent limit?"}'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85800" y="3602736"/>
            <a:ext cx="10789920" cy="6858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7824" y="3712464"/>
            <a:ext cx="1856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7824" y="3922776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curl -s localhost:8000/metrics | python -m json.tool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85800" y="4398264"/>
            <a:ext cx="10789920" cy="685800"/>
          </a:xfrm>
          <a:prstGeom prst="roundRect">
            <a:avLst>
              <a:gd name="adj" fmla="val 17333"/>
            </a:avLst>
          </a:prstGeom>
          <a:solidFill>
            <a:srgbClr val="EAF4FB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" y="4507992"/>
            <a:ext cx="1856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GATE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77824" y="4718304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AIP_OFFLINE=1 AIP_PROFILE=gemini python labs/lab7/gate.py --config labs/lab7/thresholds.yml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5800" y="5193792"/>
            <a:ext cx="10789920" cy="685800"/>
          </a:xfrm>
          <a:prstGeom prst="roundRect">
            <a:avLst>
              <a:gd name="adj" fmla="val 17333"/>
            </a:avLst>
          </a:prstGeom>
          <a:solidFill>
            <a:srgbClr val="FFFFFF"/>
          </a:solidFill>
          <a:ln w="12700">
            <a:solidFill>
              <a:srgbClr val="DDE7E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77824" y="5303520"/>
            <a:ext cx="185623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B9E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UI / OPS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" y="5513832"/>
            <a:ext cx="10177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4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-m streamlit run labs/lab7/ui.py --server.port 8501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AI in Practice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7 — From RAG Notebook to Shipping an AI Service</dc:title>
  <dc:subject>AI in Practice Lab 7: Aurora policy assistant, experiments, evaluation and demo</dc:subject>
  <dc:creator>OpenAI</dc:creator>
  <cp:lastModifiedBy>OpenAI</cp:lastModifiedBy>
  <cp:revision>1</cp:revision>
  <dcterms:created xsi:type="dcterms:W3CDTF">2026-10-14T09:02:43Z</dcterms:created>
  <dcterms:modified xsi:type="dcterms:W3CDTF">2026-10-14T09:02:43Z</dcterms:modified>
</cp:coreProperties>
</file>